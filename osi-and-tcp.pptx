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E4E651-B481-4453-9E41-F7E0DE4F5A2E}">
  <a:tblStyle styleId="{33E4E651-B481-4453-9E41-F7E0DE4F5A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7ad2505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7ad2505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129475" y="-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{33E4E651-B481-4453-9E41-F7E0DE4F5A2E}</a:tableStyleId>
              </a:tblPr>
              <a:tblGrid>
                <a:gridCol w="1802900"/>
                <a:gridCol w="1802900"/>
                <a:gridCol w="1802900"/>
                <a:gridCol w="1802900"/>
                <a:gridCol w="1802900"/>
              </a:tblGrid>
              <a:tr h="137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OSI Model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Layer Number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TCP/IP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Layer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Other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Protocol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</a:tr>
              <a:tr h="48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Alligator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Application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L7 (Firewall)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HTTP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HTTPS, FTP, Telnet, SSH, DNS, etc..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53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Pet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Presentation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 vMerge="1"/>
                <a:tc vMerge="1"/>
                <a:tc vMerge="1"/>
              </a:tr>
              <a:tr h="53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Steve’s 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Session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 vMerge="1"/>
                <a:tc vMerge="1"/>
                <a:tc vMerge="1"/>
              </a:tr>
              <a:tr h="53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Touch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Transport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L4 (NAT)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TCP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UDP, ICMP(?)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FF"/>
                    </a:solidFill>
                  </a:tcPr>
                </a:tc>
              </a:tr>
              <a:tr h="53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Not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Network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L3 (Router)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IP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IP6, ARP(?)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1155CC"/>
                    </a:solidFill>
                  </a:tcPr>
                </a:tc>
              </a:tr>
              <a:tr h="53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Do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Data Link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L2 (Switch)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Ethernet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PPP, HDLC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900FF"/>
                    </a:solidFill>
                  </a:tcPr>
                </a:tc>
              </a:tr>
              <a:tr h="53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Please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Physical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